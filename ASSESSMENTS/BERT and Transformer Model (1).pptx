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40" r:id="rId6"/>
    <p:sldId id="341" r:id="rId7"/>
    <p:sldId id="261" r:id="rId8"/>
    <p:sldId id="260" r:id="rId9"/>
    <p:sldId id="264" r:id="rId10"/>
    <p:sldId id="265" r:id="rId11"/>
    <p:sldId id="266" r:id="rId12"/>
    <p:sldId id="339" r:id="rId13"/>
    <p:sldId id="338" r:id="rId14"/>
    <p:sldId id="34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5934"/>
  </p:normalViewPr>
  <p:slideViewPr>
    <p:cSldViewPr snapToGrid="0">
      <p:cViewPr varScale="1">
        <p:scale>
          <a:sx n="78" d="100"/>
          <a:sy n="78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F03B4C-7222-461B-BA71-2B563A449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5D50-859B-4A21-BBA7-D227472F1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51ED0-8724-4321-9903-1B6C4397769A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4EAD1-5CAB-421B-B5BB-2FAE33EA58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25FF-73DD-4112-9C15-8EAFF2E8C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71AD-4225-439B-B0AF-FF523CEDE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38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4778D-F34E-4BE4-9B6B-598D2E739C81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53C36-AE66-42A1-BA56-51FF7F8C86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8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85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59346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91E8DE-0B9D-43A1-8977-59BEEC2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1" y="1621998"/>
            <a:ext cx="5068567" cy="1301390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 descr="Tag=AccentColor&#10;Flavor=Light&#10;Target=Text">
            <a:extLst>
              <a:ext uri="{FF2B5EF4-FFF2-40B4-BE49-F238E27FC236}">
                <a16:creationId xmlns:a16="http://schemas.microsoft.com/office/drawing/2014/main" id="{4CCFCCCF-0AEA-4D36-8B54-4C03F88D7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3109652"/>
            <a:ext cx="5068567" cy="2395623"/>
          </a:xfrm>
        </p:spPr>
        <p:txBody>
          <a:bodyPr anchor="ctr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Click to edit Master subtitle style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56500" y="641350"/>
            <a:ext cx="3998913" cy="262678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4913" y="3606263"/>
            <a:ext cx="4000500" cy="260826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04C15-0285-4F2C-8EFE-569AD8088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88504-58DC-4D6A-A3A2-46BBE92E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17">
            <a:extLst>
              <a:ext uri="{FF2B5EF4-FFF2-40B4-BE49-F238E27FC236}">
                <a16:creationId xmlns:a16="http://schemas.microsoft.com/office/drawing/2014/main" id="{A7F1F606-F241-4665-957D-1EA108900290}"/>
              </a:ext>
            </a:extLst>
          </p:cNvPr>
          <p:cNvSpPr txBox="1">
            <a:spLocks/>
          </p:cNvSpPr>
          <p:nvPr userDrawn="1"/>
        </p:nvSpPr>
        <p:spPr>
          <a:xfrm>
            <a:off x="3000676" y="687140"/>
            <a:ext cx="1554480" cy="52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20XX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AC8BD-D27F-41DF-AA93-5F967582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32096" y="640855"/>
            <a:ext cx="1691640" cy="645295"/>
            <a:chOff x="2932096" y="640855"/>
            <a:chExt cx="1691640" cy="64529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CEAE44-9527-4308-A77C-6C47315A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D50130-2E7D-4DC0-8382-B3958A945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62373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55D961-339B-49BE-9281-3A8E81953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1286150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63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0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B0C2F6-1B8C-43CC-92A5-2D5502929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83D5E-8A96-4276-9D60-66D16276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057275"/>
            <a:ext cx="10366743" cy="123589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707CC-694D-4162-B68A-B7D9345B3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79F8F29-0E9E-49F7-93F4-FCC8C82EE1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9925214F-17A5-4C60-AADE-6A1BC12989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10700E3A-7CD7-4A3D-BA94-0E5BCAC92A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2E6EB481-2A99-4088-95C0-0D5BAFDFF0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96066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4097BC1F-331F-4D57-993D-EFBB792275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6067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C61962-73A1-4768-8408-43E07ED2C1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6067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013A142-804D-471C-B2DD-DEC1B8C5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095" y="6296388"/>
            <a:ext cx="58166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A231814F-4139-4547-9058-18BF9C9E8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532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6CD17BC-BF82-4EF5-8F4B-8D615A2FD2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2535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CA5F4D35-7EF1-463D-8005-F3950B6541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2535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6CDB3226-AAE1-4106-A166-12BCFA73DA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9001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3CD8083-90C5-4685-A286-1A99E5DC31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69002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5FB222BC-D05B-4E76-A0DC-25657322AF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69002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6FBB75-8D79-4225-A448-37C04F053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92658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C41CC5-2A7C-4774-98CE-C7212DFD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9124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861725-0EF3-4133-B06C-063F42B1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965590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7FDBCC4A-1C49-4C93-AD45-AD78087E23D6}"/>
              </a:ext>
            </a:extLst>
          </p:cNvPr>
          <p:cNvSpPr txBox="1">
            <a:spLocks/>
          </p:cNvSpPr>
          <p:nvPr userDrawn="1"/>
        </p:nvSpPr>
        <p:spPr>
          <a:xfrm>
            <a:off x="7684497" y="6296388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20XX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5EB09A52-50AB-4593-BCB7-23D4AEC8850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537721" y="6286556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4A46BB-9B50-4F09-9059-DA78048129D4}"/>
              </a:ext>
            </a:extLst>
          </p:cNvPr>
          <p:cNvSpPr/>
          <p:nvPr userDrawn="1"/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3" y="2735221"/>
            <a:ext cx="477507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F1FF2-5B9A-4BE9-AD3C-F215F0D25F7A}"/>
              </a:ext>
            </a:extLst>
          </p:cNvPr>
          <p:cNvSpPr/>
          <p:nvPr userDrawn="1"/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4FC6A22-F9EC-4E20-B9CC-F012FA8E4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Click to edit Master subtitle style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17">
            <a:extLst>
              <a:ext uri="{FF2B5EF4-FFF2-40B4-BE49-F238E27FC236}">
                <a16:creationId xmlns:a16="http://schemas.microsoft.com/office/drawing/2014/main" id="{ABF19E1F-D7E9-4D44-9873-8D8DDC338F7E}"/>
              </a:ext>
            </a:extLst>
          </p:cNvPr>
          <p:cNvSpPr txBox="1">
            <a:spLocks/>
          </p:cNvSpPr>
          <p:nvPr userDrawn="1"/>
        </p:nvSpPr>
        <p:spPr>
          <a:xfrm>
            <a:off x="7369770" y="2040249"/>
            <a:ext cx="2103120" cy="3152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C72E99-B7BE-4F82-AD93-38765570D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695067 w 12192000"/>
              <a:gd name="connsiteY0" fmla="*/ 1808532 h 6858000"/>
              <a:gd name="connsiteX1" fmla="*/ 5695067 w 12192000"/>
              <a:gd name="connsiteY1" fmla="*/ 5049468 h 6858000"/>
              <a:gd name="connsiteX2" fmla="*/ 11147594 w 12192000"/>
              <a:gd name="connsiteY2" fmla="*/ 5049468 h 6858000"/>
              <a:gd name="connsiteX3" fmla="*/ 11147594 w 12192000"/>
              <a:gd name="connsiteY3" fmla="*/ 180853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695067" y="1808532"/>
                </a:moveTo>
                <a:lnTo>
                  <a:pt x="5695067" y="5049468"/>
                </a:lnTo>
                <a:lnTo>
                  <a:pt x="11147594" y="5049468"/>
                </a:lnTo>
                <a:lnTo>
                  <a:pt x="11147594" y="180853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5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9982C2-1320-41E5-A31C-D8DA5C8A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63FB1-76A9-4E53-9493-2B8680D68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" y="0"/>
            <a:ext cx="46511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3175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F116A-4F5C-40E2-836F-919B8B93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2" y="4123592"/>
            <a:ext cx="4654296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27D978-81FB-4612-81AA-B7123E0D5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0"/>
            <a:ext cx="91440" cy="42062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0DC717-7560-4850-A68A-A881C97F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2057400"/>
            <a:ext cx="2377440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F22527-F181-4C80-9977-C9894355C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028" y="971453"/>
            <a:ext cx="5623560" cy="4910328"/>
          </a:xfrm>
          <a:prstGeom prst="rect">
            <a:avLst/>
          </a:prstGeom>
          <a:noFill/>
          <a:ln w="6350" cap="sq" cmpd="sng" algn="ctr">
            <a:solidFill>
              <a:schemeClr val="bg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BAC30-6A2F-4907-8502-17DF9AEE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8300" y="806861"/>
            <a:ext cx="5955017" cy="523951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9F96-79A7-44FA-A7FE-C0675B99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1" y="1290294"/>
            <a:ext cx="5116286" cy="1371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72D6334-ED49-4D79-AAC2-10DCFF6D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1" y="2980736"/>
            <a:ext cx="5116286" cy="2712494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z="1800">
                <a:solidFill>
                  <a:schemeClr val="bg1">
                    <a:lumMod val="85000"/>
                    <a:lumOff val="15000"/>
                  </a:schemeClr>
                </a:solidFill>
              </a:rPr>
              <a:t>Click to edit Master subtitle style</a:t>
            </a:r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FE3A1CC-4DE8-4FC6-839D-CD3607B8D426}"/>
              </a:ext>
            </a:extLst>
          </p:cNvPr>
          <p:cNvSpPr txBox="1">
            <a:spLocks/>
          </p:cNvSpPr>
          <p:nvPr userDrawn="1"/>
        </p:nvSpPr>
        <p:spPr>
          <a:xfrm>
            <a:off x="7048099" y="302355"/>
            <a:ext cx="2743200" cy="3507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9E9A7CA-EE9C-4648-8016-1852440461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5438" y="326697"/>
            <a:ext cx="1636712" cy="34751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4561B6B-E204-4CF0-AD12-ED21B3940F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9863" y="329773"/>
            <a:ext cx="1614487" cy="13942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BE441E-0CE9-4C44-8783-3A04F5929F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7163" y="2384425"/>
            <a:ext cx="1628775" cy="14239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BAA901D-39FD-416F-B2B4-F2651AB791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438" y="4527550"/>
            <a:ext cx="3998912" cy="20002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182815-90D1-446C-BC70-6AB00BED68ED}"/>
              </a:ext>
            </a:extLst>
          </p:cNvPr>
          <p:cNvSpPr txBox="1">
            <a:spLocks/>
          </p:cNvSpPr>
          <p:nvPr userDrawn="1"/>
        </p:nvSpPr>
        <p:spPr>
          <a:xfrm>
            <a:off x="5077003" y="6367925"/>
            <a:ext cx="44805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dirty="0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BDEE55-B4D3-4542-BF01-F05A2C1FB7D6}"/>
              </a:ext>
            </a:extLst>
          </p:cNvPr>
          <p:cNvSpPr txBox="1">
            <a:spLocks/>
          </p:cNvSpPr>
          <p:nvPr userDrawn="1"/>
        </p:nvSpPr>
        <p:spPr>
          <a:xfrm>
            <a:off x="9793460" y="6367925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01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973E97-A796-4836-82F6-8A280A57BA6B}"/>
              </a:ext>
            </a:extLst>
          </p:cNvPr>
          <p:cNvSpPr/>
          <p:nvPr userDrawn="1"/>
        </p:nvSpPr>
        <p:spPr>
          <a:xfrm>
            <a:off x="5660112" y="0"/>
            <a:ext cx="652883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0DAEE-CCDB-4627-925B-879F83B1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166" y="610485"/>
            <a:ext cx="5103661" cy="13716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F23A9-0519-4A39-A9F9-F965C17D58A0}"/>
              </a:ext>
            </a:extLst>
          </p:cNvPr>
          <p:cNvSpPr/>
          <p:nvPr userDrawn="1"/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F3EB17D9-2389-4D1F-AC98-7CC3F79840B2}"/>
              </a:ext>
            </a:extLst>
          </p:cNvPr>
          <p:cNvSpPr txBox="1">
            <a:spLocks/>
          </p:cNvSpPr>
          <p:nvPr userDrawn="1"/>
        </p:nvSpPr>
        <p:spPr>
          <a:xfrm>
            <a:off x="7554616" y="383781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40E55EFF-7AC0-4ACD-B826-CA1E384CCF4C}"/>
              </a:ext>
            </a:extLst>
          </p:cNvPr>
          <p:cNvSpPr txBox="1">
            <a:spLocks/>
          </p:cNvSpPr>
          <p:nvPr userDrawn="1"/>
        </p:nvSpPr>
        <p:spPr>
          <a:xfrm>
            <a:off x="6303580" y="6214535"/>
            <a:ext cx="4696948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C6C2D606-DD47-4DA7-AF9B-9A8E401BCAFF}"/>
              </a:ext>
            </a:extLst>
          </p:cNvPr>
          <p:cNvSpPr txBox="1">
            <a:spLocks/>
          </p:cNvSpPr>
          <p:nvPr userDrawn="1"/>
        </p:nvSpPr>
        <p:spPr>
          <a:xfrm>
            <a:off x="11104451" y="6214535"/>
            <a:ext cx="605266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B7E4EF-A1BD-40F4-AB7B-04F084DD991D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623DC60-EE1A-4367-A357-5F11D9422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943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5E6F1-8633-46DB-A612-89A5079F7E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72625" y="2108844"/>
            <a:ext cx="5103812" cy="37909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12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4342A2-B2E9-4AE9-9AFD-C5F77777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6CEFC-AE66-4E11-8B5A-880177E1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737" y="621793"/>
            <a:ext cx="6651809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58" y="2100942"/>
            <a:ext cx="5716339" cy="2290607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B1E9D9-0DDD-4554-A021-4FE50439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3061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Date Placeholder 17">
            <a:extLst>
              <a:ext uri="{FF2B5EF4-FFF2-40B4-BE49-F238E27FC236}">
                <a16:creationId xmlns:a16="http://schemas.microsoft.com/office/drawing/2014/main" id="{3B5075EC-8E09-4BB4-8C8F-6177ECD9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5941" y="493108"/>
            <a:ext cx="1554480" cy="52721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 defTabSz="914400">
              <a:defRPr/>
            </a:pPr>
            <a:r>
              <a:rPr lang="en-US" sz="1300" dirty="0"/>
              <a:t>20XX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8819A-9552-4858-92F8-FB441C3A45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8157" y="4698173"/>
            <a:ext cx="5716339" cy="658674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defRPr/>
            </a:pPr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4" y="621784"/>
            <a:ext cx="1989495" cy="284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21">
            <a:extLst>
              <a:ext uri="{FF2B5EF4-FFF2-40B4-BE49-F238E27FC236}">
                <a16:creationId xmlns:a16="http://schemas.microsoft.com/office/drawing/2014/main" id="{F268C43A-0DA4-4ECC-A368-08AB69EDAE7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0334" y="627380"/>
            <a:ext cx="1980056" cy="28376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2093" y="3636193"/>
            <a:ext cx="4123320" cy="259442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02ED2-9B1A-40C8-A5F7-4473CAA3C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37361" y="446823"/>
            <a:ext cx="1691640" cy="645295"/>
            <a:chOff x="3137361" y="446823"/>
            <a:chExt cx="1691640" cy="6452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8AC6A1-19DE-4EAE-91E5-A9E82CEA3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AC828E-AA99-4E2C-A30C-D8B9DFF16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82900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62D63C1-826F-42FC-9EC1-0320620BB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1092118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26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543DF-8CFA-4CBD-AF23-D059985D34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7329 w 12192000"/>
              <a:gd name="connsiteY0" fmla="*/ 941695 h 6858000"/>
              <a:gd name="connsiteX1" fmla="*/ 937329 w 12192000"/>
              <a:gd name="connsiteY1" fmla="*/ 5916305 h 6858000"/>
              <a:gd name="connsiteX2" fmla="*/ 6389856 w 12192000"/>
              <a:gd name="connsiteY2" fmla="*/ 5916305 h 6858000"/>
              <a:gd name="connsiteX3" fmla="*/ 6389856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7329" y="941695"/>
                </a:moveTo>
                <a:lnTo>
                  <a:pt x="937329" y="5916305"/>
                </a:lnTo>
                <a:lnTo>
                  <a:pt x="6389856" y="5916305"/>
                </a:lnTo>
                <a:lnTo>
                  <a:pt x="6389856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1A2AD8-D5EA-48FD-B19E-788E4D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82D9D6-0C91-4BAA-B631-B4A597F6D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0" y="2197853"/>
            <a:ext cx="463341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Date Placeholder 7">
            <a:extLst>
              <a:ext uri="{FF2B5EF4-FFF2-40B4-BE49-F238E27FC236}">
                <a16:creationId xmlns:a16="http://schemas.microsoft.com/office/drawing/2014/main" id="{53A572F0-78E4-4979-BD85-E9F315B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1992" y="1162386"/>
            <a:ext cx="2743200" cy="25603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20XX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F1164-CE64-4728-83B0-E5316C16DF2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57313" y="3308350"/>
            <a:ext cx="4633912" cy="2141632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274320" indent="0" algn="ctr">
              <a:buNone/>
              <a:defRPr baseline="0">
                <a:solidFill>
                  <a:schemeClr val="bg1"/>
                </a:solidFill>
              </a:defRPr>
            </a:lvl2pPr>
            <a:lvl3pPr marL="548640" indent="0">
              <a:buNone/>
              <a:defRPr>
                <a:solidFill>
                  <a:schemeClr val="bg1"/>
                </a:solidFill>
              </a:defRPr>
            </a:lvl3pPr>
            <a:lvl4pPr marL="822960" indent="0">
              <a:buNone/>
              <a:defRPr>
                <a:solidFill>
                  <a:schemeClr val="bg1"/>
                </a:solidFill>
              </a:defRPr>
            </a:lvl4pPr>
            <a:lvl5pPr marL="10972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Footer Placeholder 8">
            <a:extLst>
              <a:ext uri="{FF2B5EF4-FFF2-40B4-BE49-F238E27FC236}">
                <a16:creationId xmlns:a16="http://schemas.microsoft.com/office/drawing/2014/main" id="{DEA4EBDD-4088-4396-BD3F-3AB4BEFB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7950" y="5472763"/>
            <a:ext cx="4636008" cy="25603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489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0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4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3053588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9206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9206" y="2792471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6D68D58-C9C7-41A5-9F66-57C5771B3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8564" y="2073651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3692324-6EEB-4C0A-BF90-7A27FBF6D7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8564" y="2791788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6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3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17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94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33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16FFC6-B6FD-417B-BDE1-C6395267D6DB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9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1" r:id="rId2"/>
    <p:sldLayoutId id="2147483660" r:id="rId3"/>
    <p:sldLayoutId id="2147483676" r:id="rId4"/>
    <p:sldLayoutId id="2147483673" r:id="rId5"/>
    <p:sldLayoutId id="2147483677" r:id="rId6"/>
    <p:sldLayoutId id="2147483672" r:id="rId7"/>
    <p:sldLayoutId id="2147483675" r:id="rId8"/>
    <p:sldLayoutId id="2147483678" r:id="rId9"/>
    <p:sldLayoutId id="2147483662" r:id="rId10"/>
    <p:sldLayoutId id="2147483663" r:id="rId11"/>
    <p:sldLayoutId id="2147483670" r:id="rId12"/>
    <p:sldLayoutId id="2147483664" r:id="rId13"/>
    <p:sldLayoutId id="2147483665" r:id="rId14"/>
    <p:sldLayoutId id="2147483666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29"/>
            <a:ext cx="8933796" cy="1412771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and Transformer Model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A167C9A-1945-8E04-200F-F46E3C3E5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159" y="4363654"/>
            <a:ext cx="3047071" cy="77560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Tejasri-192472069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83F2F-5CC7-D9CC-3784-B048FDC07C6B}"/>
              </a:ext>
            </a:extLst>
          </p:cNvPr>
          <p:cNvSpPr txBox="1"/>
          <p:nvPr/>
        </p:nvSpPr>
        <p:spPr>
          <a:xfrm>
            <a:off x="8519711" y="4431375"/>
            <a:ext cx="20431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 K Gnanavel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6544E0-D298-1FF7-B3DC-C2D8E726F742}"/>
              </a:ext>
            </a:extLst>
          </p:cNvPr>
          <p:cNvSpPr txBox="1"/>
          <p:nvPr/>
        </p:nvSpPr>
        <p:spPr>
          <a:xfrm>
            <a:off x="812157" y="533758"/>
            <a:ext cx="10567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NLP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0AF9D-3FEE-E4DE-D72A-1CCCA0170612}"/>
              </a:ext>
            </a:extLst>
          </p:cNvPr>
          <p:cNvSpPr txBox="1"/>
          <p:nvPr/>
        </p:nvSpPr>
        <p:spPr>
          <a:xfrm>
            <a:off x="464916" y="1208931"/>
            <a:ext cx="10914927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branch of Artificial Intelligence that enables computers to understand and process human language.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NLP models had limitations in understanding the context of long and complex sentences.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architecture, introduced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revolutionized NLP with its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(Bidirectional Encoder Representations from Transformers)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developed by Google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further improved language understanding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in both directions.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and Transformer models have significantly enhanced the accuracy and efficiency of various NLP tasks.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they are widely used in applications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engines, chatbots, machine translation, sentiment analysis, and virtual assistants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179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03231-0408-DBB8-57CD-E90A6EFA5FA3}"/>
              </a:ext>
            </a:extLst>
          </p:cNvPr>
          <p:cNvSpPr txBox="1"/>
          <p:nvPr/>
        </p:nvSpPr>
        <p:spPr>
          <a:xfrm>
            <a:off x="964557" y="787078"/>
            <a:ext cx="10255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Transformer?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039C8-7E89-72C4-837E-749FAC49675E}"/>
              </a:ext>
            </a:extLst>
          </p:cNvPr>
          <p:cNvSpPr txBox="1"/>
          <p:nvPr/>
        </p:nvSpPr>
        <p:spPr>
          <a:xfrm>
            <a:off x="520861" y="1410334"/>
            <a:ext cx="11204293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deep learning architecture designed for processing and understanding sequential data, especially natural language.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introduced by Google researchers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paper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"Attention Is All You Need."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models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Transformers process all words in a sentence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 (in parallel)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faster and more efficient.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feature of a Transformer is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helps the model identify the importance of each word based on its relationship with other words in the sentence.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Transformer consists of two main components: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understands the input, and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generates the output.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are widely used in modern AI applications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BERT, GPT, Google Translate, ChatGPT, and text summarization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32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8" y="332443"/>
            <a:ext cx="10058400" cy="1371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CE490-E9BF-4E7C-86DC-FF1D0E4F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66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61A0E-F93A-4BFF-A5D7-77F413A8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181AD-C6E1-4A00-ADF0-984AC4E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93FBB2-1DD0-A7FB-E655-E8296EC3BC72}"/>
              </a:ext>
            </a:extLst>
          </p:cNvPr>
          <p:cNvSpPr/>
          <p:nvPr/>
        </p:nvSpPr>
        <p:spPr>
          <a:xfrm>
            <a:off x="4814657" y="2649661"/>
            <a:ext cx="2244901" cy="3260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Positional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DCADEE-08FF-E9B8-8254-F4054BBF7837}"/>
              </a:ext>
            </a:extLst>
          </p:cNvPr>
          <p:cNvSpPr/>
          <p:nvPr/>
        </p:nvSpPr>
        <p:spPr>
          <a:xfrm>
            <a:off x="4814655" y="1308172"/>
            <a:ext cx="2244903" cy="365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Sentence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B16973-742D-A960-6751-3FB4D0A287F0}"/>
              </a:ext>
            </a:extLst>
          </p:cNvPr>
          <p:cNvSpPr/>
          <p:nvPr/>
        </p:nvSpPr>
        <p:spPr>
          <a:xfrm>
            <a:off x="4835897" y="1976635"/>
            <a:ext cx="2244902" cy="365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Embedding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06E8F6-E7E1-0154-858D-378475792D9B}"/>
              </a:ext>
            </a:extLst>
          </p:cNvPr>
          <p:cNvSpPr/>
          <p:nvPr/>
        </p:nvSpPr>
        <p:spPr>
          <a:xfrm>
            <a:off x="4444568" y="3391497"/>
            <a:ext cx="3182309" cy="659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 Layers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(Self-Attention + Feed Forward)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1BAD5C-8407-A7A5-5B12-CBC7C30F8FCD}"/>
              </a:ext>
            </a:extLst>
          </p:cNvPr>
          <p:cNvSpPr/>
          <p:nvPr/>
        </p:nvSpPr>
        <p:spPr>
          <a:xfrm>
            <a:off x="4999703" y="5943136"/>
            <a:ext cx="1917290" cy="365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Sentence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0C1D4E-97AD-2D6B-7562-17CFAC5D34AA}"/>
              </a:ext>
            </a:extLst>
          </p:cNvPr>
          <p:cNvSpPr/>
          <p:nvPr/>
        </p:nvSpPr>
        <p:spPr>
          <a:xfrm>
            <a:off x="4814655" y="4395918"/>
            <a:ext cx="2442137" cy="4171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Representation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36B651-014A-F7E3-332C-5D1548B4685F}"/>
              </a:ext>
            </a:extLst>
          </p:cNvPr>
          <p:cNvSpPr/>
          <p:nvPr/>
        </p:nvSpPr>
        <p:spPr>
          <a:xfrm>
            <a:off x="4465810" y="5160082"/>
            <a:ext cx="3182310" cy="459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 (for generation tasks</a:t>
            </a:r>
            <a:r>
              <a:rPr lang="en-IN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2E8B1C0-38ED-8228-3E91-0E4A841B6B43}"/>
              </a:ext>
            </a:extLst>
          </p:cNvPr>
          <p:cNvSpPr/>
          <p:nvPr/>
        </p:nvSpPr>
        <p:spPr>
          <a:xfrm>
            <a:off x="5839968" y="1693325"/>
            <a:ext cx="118380" cy="253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8DAD994-9F78-C191-1E5E-867EE2F69835}"/>
              </a:ext>
            </a:extLst>
          </p:cNvPr>
          <p:cNvSpPr/>
          <p:nvPr/>
        </p:nvSpPr>
        <p:spPr>
          <a:xfrm>
            <a:off x="5818726" y="2364496"/>
            <a:ext cx="118380" cy="253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1B9AEF30-81F9-098E-5FC7-1CC15175BCF4}"/>
              </a:ext>
            </a:extLst>
          </p:cNvPr>
          <p:cNvSpPr/>
          <p:nvPr/>
        </p:nvSpPr>
        <p:spPr>
          <a:xfrm>
            <a:off x="5818726" y="3034812"/>
            <a:ext cx="139622" cy="2999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CF785BFB-8331-9919-1AF4-518436CC4BFB}"/>
              </a:ext>
            </a:extLst>
          </p:cNvPr>
          <p:cNvSpPr/>
          <p:nvPr/>
        </p:nvSpPr>
        <p:spPr>
          <a:xfrm>
            <a:off x="5838435" y="4107373"/>
            <a:ext cx="118380" cy="253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4B6D76ED-2CAA-D797-7FA6-EB3860F9ACE5}"/>
              </a:ext>
            </a:extLst>
          </p:cNvPr>
          <p:cNvSpPr/>
          <p:nvPr/>
        </p:nvSpPr>
        <p:spPr>
          <a:xfrm>
            <a:off x="5834721" y="4860930"/>
            <a:ext cx="118380" cy="253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B30CB864-7F8D-6366-FBCC-7F7BC0F7C4FC}"/>
              </a:ext>
            </a:extLst>
          </p:cNvPr>
          <p:cNvSpPr/>
          <p:nvPr/>
        </p:nvSpPr>
        <p:spPr>
          <a:xfrm>
            <a:off x="5839968" y="5665197"/>
            <a:ext cx="118380" cy="253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788" y="561571"/>
            <a:ext cx="10058400" cy="77762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BERT?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9B0E47DF-4A73-4EC9-9E3C-7037EACE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66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E5DBD98D-504E-4C66-8A7C-2A71AE5800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D261D5D4-8529-41C8-BD1B-592055D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6F935F9-BA47-8B6B-840B-E40DD561E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34" y="1119272"/>
            <a:ext cx="11308465" cy="35453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Encoder Representations from Transformers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deep learning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Natural Language Processing (NLP), developed by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built on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 architecture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language.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models, BERT reads text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 directions (left-to-right and right-to-left)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it to understand the full context of a word in a sentence.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first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large text corpus and then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specific NLP tasks.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widely used in applications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answering, sentiment analysis, text classification, search engines, chatbots, and machine translation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6389-2374-4677-B8BB-59410CCC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904" y="451314"/>
            <a:ext cx="10058400" cy="1371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BERT Works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CEED1870-3777-4F18-9F90-73CBEAB5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66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819FC2BB-919D-44CE-9A90-F0AC4AC8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6A0EF3C-1746-44D9-BCA5-45FF05BC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0F93F4-2CC6-FB72-E761-5A27BE27E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84" y="1732730"/>
            <a:ext cx="11098193" cy="311107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input sentence is divided into 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(words or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subwords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a tokenizer. </a:t>
            </a:r>
          </a:p>
          <a:p>
            <a:pPr>
              <a:lnSpc>
                <a:spcPct val="12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token is converted into a numerical vector called an 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the model can process it. </a:t>
            </a:r>
          </a:p>
          <a:p>
            <a:pPr>
              <a:lnSpc>
                <a:spcPct val="12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Context Understanding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 reads the sentence 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both left-to-right and right-to-left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complete context of each word. </a:t>
            </a:r>
          </a:p>
          <a:p>
            <a:pPr>
              <a:lnSpc>
                <a:spcPct val="12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 uses 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the relationships between words and determine which words are most important. </a:t>
            </a:r>
          </a:p>
          <a:p>
            <a:pPr>
              <a:lnSpc>
                <a:spcPct val="12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Representation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creates a context-aware representation for every word, capturing its meaning based on the surrounding words. </a:t>
            </a:r>
          </a:p>
          <a:p>
            <a:pPr>
              <a:lnSpc>
                <a:spcPct val="12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for Specific Tasks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pre-trained BERT model is fine-tuned for tasks such as question answering, sentiment analysis, text classification, named entity recognition, and machine translation.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20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BERT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9181" y="2199805"/>
            <a:ext cx="4663440" cy="31638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Answering Systems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Detection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Text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6CA15-E6AD-4FDD-A056-9C13E755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66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C1DE4-8EB8-444B-87EE-6E94238A1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CA193-09E2-4717-889D-A9A4BA2C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91A4-7839-4F63-B17C-7C366C59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C6BE9-5812-40D1-8504-EE2DF673B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7448" y="2116738"/>
            <a:ext cx="3053588" cy="64008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ED227-95A7-4B08-91FE-5E0EF0D41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8921" y="2685669"/>
            <a:ext cx="3603960" cy="3163825"/>
          </a:xfrm>
        </p:spPr>
        <p:txBody>
          <a:bodyPr>
            <a:norm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context understanding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long sentences effectively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performance on many NLP tasks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7C1009-4A44-488C-BDFC-7D87B4106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4200" y="2116738"/>
            <a:ext cx="3053588" cy="64008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2ECAAA-1E9C-4845-8EA9-E11A76F08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37594" y="2660015"/>
            <a:ext cx="3291788" cy="316450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model size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powerful hardware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training time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for real-time deployment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8" name="Footer Placeholder 7">
            <a:extLst>
              <a:ext uri="{FF2B5EF4-FFF2-40B4-BE49-F238E27FC236}">
                <a16:creationId xmlns:a16="http://schemas.microsoft.com/office/drawing/2014/main" id="{79E84A9F-5B22-413F-A8E1-68805D01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66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7B1C6765-008C-4E86-89DB-A7AFEE6DF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387783AD-BD2D-4FA3-814C-60A9805D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508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79D6-76C0-0073-7736-E690B2E3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85186-40DC-E12A-B37E-29BA66F50656}"/>
              </a:ext>
            </a:extLst>
          </p:cNvPr>
          <p:cNvSpPr txBox="1"/>
          <p:nvPr/>
        </p:nvSpPr>
        <p:spPr>
          <a:xfrm>
            <a:off x="946628" y="1945368"/>
            <a:ext cx="10058400" cy="3742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revolutionized Natural Language Processing by introducing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efficient and accurate language understanding.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further improved NLP by understanding the context of words from both directions, leading to higher accuracy in language tasks.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BERT and Transformer models are widely used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engines, chatbots, virtual assistants, machine translation, sentiment analysis, and text summarization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AI continues to evolve, Transformer-based models will play a key role in developing smarter, faster, and more human-like language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80047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EF68-6EE5-959C-740C-93673B71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477" y="2407633"/>
            <a:ext cx="7199452" cy="2042733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4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53D15D0-9C25-E723-61D2-C6A56E20B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876" y="924231"/>
            <a:ext cx="5143500" cy="54986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E41278-4F8C-E27B-3988-DB33B7F33099}"/>
              </a:ext>
            </a:extLst>
          </p:cNvPr>
          <p:cNvSpPr txBox="1"/>
          <p:nvPr/>
        </p:nvSpPr>
        <p:spPr>
          <a:xfrm>
            <a:off x="540774" y="609600"/>
            <a:ext cx="2939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Geotag Photo: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22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7802517-FD5A-4D6F-9BEF-6B50583B6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FC90C-E938-4D14-B988-1AABB7F8F3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3D0E2C-DCCF-4DCA-8700-60C67A2E1F4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Savon design</Template>
  <TotalTime>80</TotalTime>
  <Words>752</Words>
  <Application>Microsoft Office PowerPoint</Application>
  <PresentationFormat>Widescreen</PresentationFormat>
  <Paragraphs>85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Garamond</vt:lpstr>
      <vt:lpstr>Times New Roman</vt:lpstr>
      <vt:lpstr>SavonVTI</vt:lpstr>
      <vt:lpstr>BERT and Transformer Model  </vt:lpstr>
      <vt:lpstr>PowerPoint Presentation</vt:lpstr>
      <vt:lpstr>PowerPoint Presentation</vt:lpstr>
      <vt:lpstr>Transformer Architecture</vt:lpstr>
      <vt:lpstr>What is BERT?</vt:lpstr>
      <vt:lpstr>How BERT Works</vt:lpstr>
      <vt:lpstr>Applications of BERT</vt:lpstr>
      <vt:lpstr>Advantages and Limitations</vt:lpstr>
      <vt:lpstr>Conclusion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polisettytejasri007@outlook.com</dc:creator>
  <cp:lastModifiedBy>polisettytejasri007@outlook.com</cp:lastModifiedBy>
  <cp:revision>2</cp:revision>
  <dcterms:created xsi:type="dcterms:W3CDTF">2026-07-15T03:16:10Z</dcterms:created>
  <dcterms:modified xsi:type="dcterms:W3CDTF">2026-07-15T06:23:42Z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